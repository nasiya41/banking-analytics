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19" r:id="rId1"/>
  </p:sldMasterIdLst>
  <p:notesMasterIdLst>
    <p:notesMasterId r:id="rId42"/>
  </p:notesMasterIdLst>
  <p:sldIdLst>
    <p:sldId id="259" r:id="rId2"/>
    <p:sldId id="257" r:id="rId3"/>
    <p:sldId id="295" r:id="rId4"/>
    <p:sldId id="281" r:id="rId5"/>
    <p:sldId id="271" r:id="rId6"/>
    <p:sldId id="274" r:id="rId7"/>
    <p:sldId id="275" r:id="rId8"/>
    <p:sldId id="276" r:id="rId9"/>
    <p:sldId id="282" r:id="rId10"/>
    <p:sldId id="283" r:id="rId11"/>
    <p:sldId id="284" r:id="rId12"/>
    <p:sldId id="285" r:id="rId13"/>
    <p:sldId id="290" r:id="rId14"/>
    <p:sldId id="291" r:id="rId15"/>
    <p:sldId id="292" r:id="rId16"/>
    <p:sldId id="293" r:id="rId17"/>
    <p:sldId id="277" r:id="rId18"/>
    <p:sldId id="278" r:id="rId19"/>
    <p:sldId id="279" r:id="rId20"/>
    <p:sldId id="297" r:id="rId21"/>
    <p:sldId id="298" r:id="rId22"/>
    <p:sldId id="302" r:id="rId23"/>
    <p:sldId id="280" r:id="rId24"/>
    <p:sldId id="258" r:id="rId25"/>
    <p:sldId id="260" r:id="rId26"/>
    <p:sldId id="261" r:id="rId27"/>
    <p:sldId id="262" r:id="rId28"/>
    <p:sldId id="286" r:id="rId29"/>
    <p:sldId id="287" r:id="rId30"/>
    <p:sldId id="288" r:id="rId31"/>
    <p:sldId id="289" r:id="rId32"/>
    <p:sldId id="263" r:id="rId33"/>
    <p:sldId id="264" r:id="rId34"/>
    <p:sldId id="265" r:id="rId35"/>
    <p:sldId id="299" r:id="rId36"/>
    <p:sldId id="300" r:id="rId37"/>
    <p:sldId id="301" r:id="rId38"/>
    <p:sldId id="266" r:id="rId39"/>
    <p:sldId id="296" r:id="rId40"/>
    <p:sldId id="294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993F0-340A-40B1-9565-EE95C7A1A93C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B9430C-D221-44B4-A10F-37B91207E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102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9430C-D221-44B4-A10F-37B91207E024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469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007C6E2-CC72-427C-8E99-7AAECFBBFD8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3EC9FC4-8DD4-4942-B3AE-4BD8436D2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693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263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195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524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605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065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891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642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897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240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353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8687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9432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9536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3064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0762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488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7C6E2-CC72-427C-8E99-7AAECFBBFD8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C9FC4-8DD4-4942-B3AE-4BD8436D2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5986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20" r:id="rId1"/>
    <p:sldLayoutId id="2147484221" r:id="rId2"/>
    <p:sldLayoutId id="2147484222" r:id="rId3"/>
    <p:sldLayoutId id="2147484223" r:id="rId4"/>
    <p:sldLayoutId id="2147484224" r:id="rId5"/>
    <p:sldLayoutId id="2147484225" r:id="rId6"/>
    <p:sldLayoutId id="2147484226" r:id="rId7"/>
    <p:sldLayoutId id="2147484227" r:id="rId8"/>
    <p:sldLayoutId id="2147484228" r:id="rId9"/>
    <p:sldLayoutId id="2147484229" r:id="rId10"/>
    <p:sldLayoutId id="2147484230" r:id="rId11"/>
    <p:sldLayoutId id="2147484231" r:id="rId12"/>
    <p:sldLayoutId id="2147484232" r:id="rId13"/>
    <p:sldLayoutId id="2147484233" r:id="rId14"/>
    <p:sldLayoutId id="2147484234" r:id="rId15"/>
    <p:sldLayoutId id="2147484235" r:id="rId16"/>
    <p:sldLayoutId id="214748423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570A98-C299-5DA1-D572-3B1700D91615}"/>
              </a:ext>
            </a:extLst>
          </p:cNvPr>
          <p:cNvSpPr txBox="1"/>
          <p:nvPr/>
        </p:nvSpPr>
        <p:spPr>
          <a:xfrm>
            <a:off x="1061884" y="461445"/>
            <a:ext cx="107368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tx1">
                    <a:lumMod val="95000"/>
                  </a:schemeClr>
                </a:solidFill>
                <a:latin typeface="Lucida Calligraphy" panose="03010101010101010101" pitchFamily="66" charset="0"/>
                <a:cs typeface="Arial" panose="020B0604020202020204" pitchFamily="34" charset="0"/>
              </a:rPr>
              <a:t>Bank Loan Analytics </a:t>
            </a:r>
          </a:p>
          <a:p>
            <a:r>
              <a:rPr lang="en-US" sz="5400" dirty="0">
                <a:solidFill>
                  <a:schemeClr val="tx1">
                    <a:lumMod val="95000"/>
                  </a:schemeClr>
                </a:solidFill>
                <a:latin typeface="Lucida Calligraphy" panose="03010101010101010101" pitchFamily="66" charset="0"/>
                <a:cs typeface="Arial" panose="020B0604020202020204" pitchFamily="34" charset="0"/>
              </a:rPr>
              <a:t>                                and</a:t>
            </a:r>
          </a:p>
          <a:p>
            <a:r>
              <a:rPr lang="en-US" sz="5400" dirty="0">
                <a:solidFill>
                  <a:schemeClr val="tx1">
                    <a:lumMod val="95000"/>
                  </a:schemeClr>
                </a:solidFill>
                <a:latin typeface="Lucida Calligraphy" panose="03010101010101010101" pitchFamily="66" charset="0"/>
                <a:cs typeface="Arial" panose="020B0604020202020204" pitchFamily="34" charset="0"/>
              </a:rPr>
              <a:t>Debit &amp; Credit Transactions</a:t>
            </a:r>
            <a:endParaRPr lang="en-IN" sz="5400" dirty="0">
              <a:solidFill>
                <a:schemeClr val="tx1">
                  <a:lumMod val="95000"/>
                </a:schemeClr>
              </a:solidFill>
              <a:latin typeface="Lucida Calligraphy" panose="03010101010101010101" pitchFamily="66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95144A-99F1-E922-15CE-C93CE429547A}"/>
              </a:ext>
            </a:extLst>
          </p:cNvPr>
          <p:cNvSpPr txBox="1"/>
          <p:nvPr/>
        </p:nvSpPr>
        <p:spPr>
          <a:xfrm>
            <a:off x="6872749" y="4819782"/>
            <a:ext cx="524059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Lucida Calligraphy" panose="03010101010101010101" pitchFamily="66" charset="0"/>
              </a:rPr>
              <a:t>-</a:t>
            </a:r>
            <a:r>
              <a:rPr lang="en-US" sz="5400" dirty="0">
                <a:latin typeface="Lucida Calligraphy" panose="03010101010101010101" pitchFamily="66" charset="0"/>
              </a:rPr>
              <a:t>Presented by Group 6</a:t>
            </a:r>
            <a:endParaRPr lang="en-IN" sz="6000" dirty="0">
              <a:latin typeface="Lucida Calligraphy" panose="03010101010101010101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5AFD52-9CDF-A793-0883-756A184CA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45" y="68986"/>
            <a:ext cx="1650062" cy="5536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AF7D83-A0CA-01F0-BB3F-9A1134275E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38"/>
          <a:stretch>
            <a:fillRect/>
          </a:stretch>
        </p:blipFill>
        <p:spPr>
          <a:xfrm>
            <a:off x="9493046" y="3107266"/>
            <a:ext cx="2330245" cy="16122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D6A476-7678-5C18-8444-8D273DBEE857}"/>
              </a:ext>
            </a:extLst>
          </p:cNvPr>
          <p:cNvSpPr txBox="1"/>
          <p:nvPr/>
        </p:nvSpPr>
        <p:spPr>
          <a:xfrm>
            <a:off x="2163096" y="3707804"/>
            <a:ext cx="7433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Lucida Calligraphy" panose="03010101010101010101" pitchFamily="66" charset="0"/>
              </a:rPr>
              <a:t>18</a:t>
            </a:r>
            <a:r>
              <a:rPr lang="en-US" sz="4000" b="1" baseline="30000" dirty="0">
                <a:latin typeface="Lucida Calligraphy" panose="03010101010101010101" pitchFamily="66" charset="0"/>
              </a:rPr>
              <a:t>th</a:t>
            </a:r>
            <a:r>
              <a:rPr lang="en-US" sz="4000" b="1" dirty="0">
                <a:latin typeface="Lucida Calligraphy" panose="03010101010101010101" pitchFamily="66" charset="0"/>
              </a:rPr>
              <a:t> February 2026</a:t>
            </a:r>
            <a:endParaRPr lang="en-IN" sz="4000" b="1" dirty="0"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05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393FD2D-3F3B-9000-B121-D811680F7278}"/>
              </a:ext>
            </a:extLst>
          </p:cNvPr>
          <p:cNvSpPr/>
          <p:nvPr/>
        </p:nvSpPr>
        <p:spPr>
          <a:xfrm>
            <a:off x="1907457" y="1581314"/>
            <a:ext cx="7698658" cy="5887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Lucida Calligraphy" panose="03010101010101010101" pitchFamily="66" charset="0"/>
              </a:rPr>
              <a:t>Syed Imtiyaz</a:t>
            </a:r>
            <a:endParaRPr lang="en-IN" sz="2400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DCE3AC9-2465-095E-78F9-0370FEA2341A}"/>
              </a:ext>
            </a:extLst>
          </p:cNvPr>
          <p:cNvSpPr/>
          <p:nvPr/>
        </p:nvSpPr>
        <p:spPr>
          <a:xfrm>
            <a:off x="2052482" y="2250439"/>
            <a:ext cx="7585588" cy="6022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Lucida Calligraphy" panose="03010101010101010101" pitchFamily="66" charset="0"/>
              </a:rPr>
              <a:t>Manas Jena</a:t>
            </a:r>
            <a:endParaRPr lang="en-IN" sz="2400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5A2E55B-1BC8-3660-28E1-F86B8D3635BE}"/>
              </a:ext>
            </a:extLst>
          </p:cNvPr>
          <p:cNvSpPr/>
          <p:nvPr/>
        </p:nvSpPr>
        <p:spPr>
          <a:xfrm>
            <a:off x="1986116" y="2989084"/>
            <a:ext cx="7708490" cy="7300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Lucida Calligraphy" panose="03010101010101010101" pitchFamily="66" charset="0"/>
              </a:rPr>
              <a:t>Mende Sravya</a:t>
            </a:r>
            <a:endParaRPr lang="en-IN" sz="2400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65F26B2-5CFD-374D-11D9-EB5D7C2A70D4}"/>
              </a:ext>
            </a:extLst>
          </p:cNvPr>
          <p:cNvSpPr/>
          <p:nvPr/>
        </p:nvSpPr>
        <p:spPr>
          <a:xfrm>
            <a:off x="2234378" y="4715819"/>
            <a:ext cx="7344697" cy="7632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Lucida Calligraphy" panose="03010101010101010101" pitchFamily="66" charset="0"/>
              </a:rPr>
              <a:t>Nasiya Fathima N</a:t>
            </a:r>
            <a:endParaRPr lang="en-IN" sz="2400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689B8A-DABA-F869-C31F-BA78A00FDC35}"/>
              </a:ext>
            </a:extLst>
          </p:cNvPr>
          <p:cNvSpPr/>
          <p:nvPr/>
        </p:nvSpPr>
        <p:spPr>
          <a:xfrm>
            <a:off x="2261418" y="5725463"/>
            <a:ext cx="7344697" cy="8357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Lucida Calligraphy" panose="03010101010101010101" pitchFamily="66" charset="0"/>
              </a:rPr>
              <a:t>Chethan </a:t>
            </a:r>
            <a:r>
              <a:rPr lang="en-US" sz="2400" dirty="0" err="1">
                <a:solidFill>
                  <a:schemeClr val="bg1"/>
                </a:solidFill>
                <a:latin typeface="Lucida Calligraphy" panose="03010101010101010101" pitchFamily="66" charset="0"/>
              </a:rPr>
              <a:t>Racharla</a:t>
            </a:r>
            <a:endParaRPr lang="en-IN" sz="2400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27312A9E-3AA2-764C-A652-DF597571E6A9}"/>
              </a:ext>
            </a:extLst>
          </p:cNvPr>
          <p:cNvSpPr/>
          <p:nvPr/>
        </p:nvSpPr>
        <p:spPr>
          <a:xfrm>
            <a:off x="1907457" y="296795"/>
            <a:ext cx="7875639" cy="1032999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Lucida Calligraphy" panose="03010101010101010101" pitchFamily="66" charset="0"/>
              </a:rPr>
              <a:t>Meet Our Team</a:t>
            </a:r>
            <a:endParaRPr lang="en-IN" sz="4400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95D563-3D80-70BD-F1BD-F56E8875C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6E56461B-94B3-8C20-12F5-2366D72002CC}"/>
              </a:ext>
            </a:extLst>
          </p:cNvPr>
          <p:cNvSpPr/>
          <p:nvPr/>
        </p:nvSpPr>
        <p:spPr>
          <a:xfrm>
            <a:off x="1929580" y="3849366"/>
            <a:ext cx="7708490" cy="7300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Lucida Calligraphy" panose="03010101010101010101" pitchFamily="66" charset="0"/>
              </a:rPr>
              <a:t>A Yogyatha Bhargavi</a:t>
            </a:r>
            <a:endParaRPr lang="en-IN" sz="2400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646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F7E49D-509A-76A7-8E8A-0DE701F052F8}"/>
              </a:ext>
            </a:extLst>
          </p:cNvPr>
          <p:cNvSpPr txBox="1"/>
          <p:nvPr/>
        </p:nvSpPr>
        <p:spPr>
          <a:xfrm>
            <a:off x="2418735" y="749823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Tools Used for this project:</a:t>
            </a:r>
            <a:endParaRPr lang="en-IN" sz="3600" dirty="0">
              <a:latin typeface="Algerian" panose="04020705040A02060702" pitchFamily="82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12C3282-E588-EC32-A5E5-D778ED3C6C7C}"/>
              </a:ext>
            </a:extLst>
          </p:cNvPr>
          <p:cNvSpPr/>
          <p:nvPr/>
        </p:nvSpPr>
        <p:spPr>
          <a:xfrm>
            <a:off x="1730476" y="1931416"/>
            <a:ext cx="3470789" cy="23800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Project Management Tools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74FC7025-3FBB-3C4F-8C97-620A8D114AA7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4960374" y="2336524"/>
            <a:ext cx="3271277" cy="201962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44FE93-84C4-8D25-9099-B105AA1D24EB}"/>
              </a:ext>
            </a:extLst>
          </p:cNvPr>
          <p:cNvCxnSpPr>
            <a:cxnSpLocks/>
          </p:cNvCxnSpPr>
          <p:nvPr/>
        </p:nvCxnSpPr>
        <p:spPr>
          <a:xfrm>
            <a:off x="5201265" y="2968111"/>
            <a:ext cx="3116826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6A84B51-25C8-7A6A-8DF2-4853380B6241}"/>
              </a:ext>
            </a:extLst>
          </p:cNvPr>
          <p:cNvCxnSpPr>
            <a:cxnSpLocks/>
          </p:cNvCxnSpPr>
          <p:nvPr/>
        </p:nvCxnSpPr>
        <p:spPr>
          <a:xfrm>
            <a:off x="4988437" y="3647767"/>
            <a:ext cx="3329654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274B339F-89B7-528A-A61B-7D8834ABD123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4847303" y="3804969"/>
            <a:ext cx="3470788" cy="762095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F3E5825-AC70-839A-E7B0-913B8A99F8B7}"/>
              </a:ext>
            </a:extLst>
          </p:cNvPr>
          <p:cNvSpPr/>
          <p:nvPr/>
        </p:nvSpPr>
        <p:spPr>
          <a:xfrm>
            <a:off x="8231651" y="2004084"/>
            <a:ext cx="2013563" cy="66487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Excel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007ED62-1E7A-2137-55FB-C37B5007595C}"/>
              </a:ext>
            </a:extLst>
          </p:cNvPr>
          <p:cNvSpPr/>
          <p:nvPr/>
        </p:nvSpPr>
        <p:spPr>
          <a:xfrm>
            <a:off x="8318091" y="2734571"/>
            <a:ext cx="1927123" cy="65480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Tableau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4DCD035-2F3F-D40D-DFD3-1EBB065617A3}"/>
              </a:ext>
            </a:extLst>
          </p:cNvPr>
          <p:cNvSpPr/>
          <p:nvPr/>
        </p:nvSpPr>
        <p:spPr>
          <a:xfrm>
            <a:off x="8318091" y="3428932"/>
            <a:ext cx="1927123" cy="737379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Algerian" panose="04020705040A02060702" pitchFamily="82" charset="0"/>
              </a:rPr>
              <a:t>Mysql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E9DB95D-2758-0BA1-9777-82EFBC1AA42C}"/>
              </a:ext>
            </a:extLst>
          </p:cNvPr>
          <p:cNvSpPr/>
          <p:nvPr/>
        </p:nvSpPr>
        <p:spPr>
          <a:xfrm>
            <a:off x="8318091" y="4198374"/>
            <a:ext cx="1927123" cy="7373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Power BI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3BE6EFC-1B67-3A20-8493-9E7ECD4C1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626" y="1997176"/>
            <a:ext cx="684374" cy="55347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ADB0F5B-08EA-4BDD-1A2C-826887A60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626" y="2691373"/>
            <a:ext cx="684374" cy="55347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43FC03F-BD62-A4E1-88BE-EA54C057A0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626" y="3428931"/>
            <a:ext cx="815269" cy="64800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A700F4A-A3A3-1B70-6027-8C8705E6AB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626" y="4248880"/>
            <a:ext cx="1025480" cy="64800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D9B79AF-D49E-DEEA-84A4-6974455150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910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Sequential Access Storage 4">
            <a:extLst>
              <a:ext uri="{FF2B5EF4-FFF2-40B4-BE49-F238E27FC236}">
                <a16:creationId xmlns:a16="http://schemas.microsoft.com/office/drawing/2014/main" id="{DA0679A7-6FEA-E9AB-6E29-24302FBF5A2C}"/>
              </a:ext>
            </a:extLst>
          </p:cNvPr>
          <p:cNvSpPr/>
          <p:nvPr/>
        </p:nvSpPr>
        <p:spPr>
          <a:xfrm>
            <a:off x="4978243" y="465498"/>
            <a:ext cx="2628804" cy="894736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lgerian" panose="04020705040A02060702" pitchFamily="82" charset="0"/>
                <a:ea typeface="Calibri" panose="020F0502020204030204" pitchFamily="34" charset="0"/>
                <a:cs typeface="Calibri" panose="020F0502020204030204" pitchFamily="34" charset="0"/>
              </a:rPr>
              <a:t>Agenda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C2E0C1C-CF25-5256-60A9-C78CC3A66184}"/>
              </a:ext>
            </a:extLst>
          </p:cNvPr>
          <p:cNvSpPr/>
          <p:nvPr/>
        </p:nvSpPr>
        <p:spPr>
          <a:xfrm>
            <a:off x="368709" y="2148348"/>
            <a:ext cx="3642851" cy="6980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Introduction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C5D9814-5FAD-D952-8FB5-29ADF01089A2}"/>
              </a:ext>
            </a:extLst>
          </p:cNvPr>
          <p:cNvSpPr/>
          <p:nvPr/>
        </p:nvSpPr>
        <p:spPr>
          <a:xfrm>
            <a:off x="4498258" y="2048488"/>
            <a:ext cx="3893574" cy="6980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Data Overview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ECBF110-A80D-FD69-66E7-EB8B408CEA3D}"/>
              </a:ext>
            </a:extLst>
          </p:cNvPr>
          <p:cNvSpPr/>
          <p:nvPr/>
        </p:nvSpPr>
        <p:spPr>
          <a:xfrm>
            <a:off x="8576186" y="2166178"/>
            <a:ext cx="3360175" cy="6980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Objectives/</a:t>
            </a:r>
            <a:r>
              <a:rPr lang="en-US" dirty="0" err="1">
                <a:solidFill>
                  <a:schemeClr val="bg1"/>
                </a:solidFill>
                <a:latin typeface="Algerian" panose="04020705040A02060702" pitchFamily="82" charset="0"/>
              </a:rPr>
              <a:t>Kpi’s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52272D-199D-369A-4204-C6E279A40B7F}"/>
              </a:ext>
            </a:extLst>
          </p:cNvPr>
          <p:cNvSpPr/>
          <p:nvPr/>
        </p:nvSpPr>
        <p:spPr>
          <a:xfrm>
            <a:off x="211394" y="3464175"/>
            <a:ext cx="3893574" cy="6980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Analysis and Insights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A7890E0-A51D-5B33-5B0B-106527F1B12C}"/>
              </a:ext>
            </a:extLst>
          </p:cNvPr>
          <p:cNvSpPr/>
          <p:nvPr/>
        </p:nvSpPr>
        <p:spPr>
          <a:xfrm>
            <a:off x="4594122" y="3413333"/>
            <a:ext cx="3893574" cy="6980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Process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A83627-F035-F91A-EB93-8E0BE3A13393}"/>
              </a:ext>
            </a:extLst>
          </p:cNvPr>
          <p:cNvSpPr/>
          <p:nvPr/>
        </p:nvSpPr>
        <p:spPr>
          <a:xfrm>
            <a:off x="8635178" y="3397666"/>
            <a:ext cx="3301183" cy="6980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Recommendations and Insights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EAD4B4B-6F9B-6A15-907C-F1731999D6F9}"/>
              </a:ext>
            </a:extLst>
          </p:cNvPr>
          <p:cNvSpPr/>
          <p:nvPr/>
        </p:nvSpPr>
        <p:spPr>
          <a:xfrm>
            <a:off x="560439" y="4780002"/>
            <a:ext cx="3544529" cy="6980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Conclusion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D498D7B-2D18-3951-F82C-BBB655372DB6}"/>
              </a:ext>
            </a:extLst>
          </p:cNvPr>
          <p:cNvSpPr/>
          <p:nvPr/>
        </p:nvSpPr>
        <p:spPr>
          <a:xfrm>
            <a:off x="4734233" y="4778178"/>
            <a:ext cx="3900945" cy="6980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Report/Dashboard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426505-9850-B876-7A30-9F383B428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CDA1D021-090C-0F24-AABA-0496C446BEA9}"/>
              </a:ext>
            </a:extLst>
          </p:cNvPr>
          <p:cNvSpPr/>
          <p:nvPr/>
        </p:nvSpPr>
        <p:spPr>
          <a:xfrm>
            <a:off x="8898193" y="4778178"/>
            <a:ext cx="3175820" cy="6980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Challenges and Learnings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252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4918D9-4149-6546-F368-DF7E8E5733A5}"/>
              </a:ext>
            </a:extLst>
          </p:cNvPr>
          <p:cNvSpPr txBox="1"/>
          <p:nvPr/>
        </p:nvSpPr>
        <p:spPr>
          <a:xfrm>
            <a:off x="825908" y="1511367"/>
            <a:ext cx="1035336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Banking &amp; Financial Services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Increasing loan defaults, rising delinquency rates, and lack of clear visibility into loan performance across regions and customer segments.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Analyze loan distribution, funding, collections, and customer risk patterns to improve portfolio performance, reduce defaults, and support data-driven decision making.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2A5C62-9A13-157D-394C-2BB75BA44080}"/>
              </a:ext>
            </a:extLst>
          </p:cNvPr>
          <p:cNvSpPr txBox="1"/>
          <p:nvPr/>
        </p:nvSpPr>
        <p:spPr>
          <a:xfrm>
            <a:off x="2077064" y="517391"/>
            <a:ext cx="8037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 LOAN ANALYTICS-INTRODUCTION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7967DB-7A76-B670-55E4-75820674E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271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9F868C-BB3E-9793-B7C0-8431D6EF9E57}"/>
              </a:ext>
            </a:extLst>
          </p:cNvPr>
          <p:cNvSpPr txBox="1"/>
          <p:nvPr/>
        </p:nvSpPr>
        <p:spPr>
          <a:xfrm>
            <a:off x="939293" y="1166842"/>
            <a:ext cx="1042219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bank_loan.csv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Size: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65,535 loan records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Columns: Account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ID, Loan Status, Loan Amount, Int Rate, Is Delinquent Loan, Disbursement Date(year), Age, Branch Name, Religion, Product Code, Grade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Aggregations(KPI’S):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Loans: 65K, Total Funded Amount:733M, Total Interest:155M, Total Collection: 808M, Default Loan:1K, Verified Loan:13K,  Non-Verified Loan:17K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Delinquent Clients:7K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842D73-EBF9-DE8A-D0B8-222955C59C63}"/>
              </a:ext>
            </a:extLst>
          </p:cNvPr>
          <p:cNvSpPr txBox="1"/>
          <p:nvPr/>
        </p:nvSpPr>
        <p:spPr>
          <a:xfrm>
            <a:off x="2487561" y="324464"/>
            <a:ext cx="72168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 LOAN ANALYTICS-DATA OVERVIEW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C22178-7072-0FE7-37DC-8B75710FAB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130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EBBD9-5471-8A57-935B-EFCF9A884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C0C8D-4E47-EDF5-BF48-06FE173F6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125" y="261684"/>
            <a:ext cx="10515600" cy="75575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Bank loan dashboard-Objectives/</a:t>
            </a:r>
            <a:r>
              <a:rPr lang="en-US" sz="3200" b="1" dirty="0" err="1">
                <a:latin typeface="+mn-lt"/>
              </a:rPr>
              <a:t>kpi’s</a:t>
            </a:r>
            <a:endParaRPr lang="en-IN" sz="3200" b="1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964DF6-FED2-E122-EA65-3EF33C85D041}"/>
              </a:ext>
            </a:extLst>
          </p:cNvPr>
          <p:cNvSpPr txBox="1"/>
          <p:nvPr/>
        </p:nvSpPr>
        <p:spPr>
          <a:xfrm>
            <a:off x="1162665" y="1356852"/>
            <a:ext cx="7863348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Loan Amount by 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Loan Amount By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Loan Amount by Grade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Amount by loan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Loan amount by Religion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Loan amount by States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Loan amount by Branch(interest, fees)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C0C0D6-B136-2CF9-9A7D-2EBE2DDB91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624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F3693EE-E337-8DC5-4093-FEB25C250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3" r="1408"/>
          <a:stretch>
            <a:fillRect/>
          </a:stretch>
        </p:blipFill>
        <p:spPr>
          <a:xfrm>
            <a:off x="884902" y="2034658"/>
            <a:ext cx="5437240" cy="21637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CA1153-1E2A-7175-AA71-6613D9CF9C74}"/>
              </a:ext>
            </a:extLst>
          </p:cNvPr>
          <p:cNvSpPr txBox="1"/>
          <p:nvPr/>
        </p:nvSpPr>
        <p:spPr>
          <a:xfrm>
            <a:off x="1641988" y="1445174"/>
            <a:ext cx="4680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Yearly Loan Amount</a:t>
            </a: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80862C-227E-3C6B-1F26-0DCE40E01B57}"/>
              </a:ext>
            </a:extLst>
          </p:cNvPr>
          <p:cNvSpPr txBox="1"/>
          <p:nvPr/>
        </p:nvSpPr>
        <p:spPr>
          <a:xfrm>
            <a:off x="1283110" y="334782"/>
            <a:ext cx="104910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 LOAN DASHBOARD-ANALYSIS AND INSIGHTS</a:t>
            </a: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99110F-4DB2-1359-E685-1B95633348AB}"/>
              </a:ext>
            </a:extLst>
          </p:cNvPr>
          <p:cNvSpPr txBox="1"/>
          <p:nvPr/>
        </p:nvSpPr>
        <p:spPr>
          <a:xfrm>
            <a:off x="6617110" y="1424745"/>
            <a:ext cx="492596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2017–2018 marked the strongest growth phase in lending activity.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2018 was the peak year with maximum loan disbursement (₹289M).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Lending slowed in 2019, indicating possible tightening of credit policies or reduced demand.</a:t>
            </a:r>
            <a:b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sharp fall in 2020 suggests external disruption impact (economic slowdown, policy changes, or crisis period).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bank may need to reassess credit expansion strategy post-2020 to restore portfolio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trend reflects rapid expansion followed by contraction in the later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D5B48A-1C6C-AD29-3341-80F87D3BBF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626085" cy="73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78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EBA4C-8720-4AC9-FE64-9149D6E22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319DB33-09C9-0D35-AD15-F2142190C40B}"/>
              </a:ext>
            </a:extLst>
          </p:cNvPr>
          <p:cNvSpPr txBox="1"/>
          <p:nvPr/>
        </p:nvSpPr>
        <p:spPr>
          <a:xfrm>
            <a:off x="3814915" y="325189"/>
            <a:ext cx="6037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Age wise Amount %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558AD0-30F9-94A1-269B-C05E220C829F}"/>
              </a:ext>
            </a:extLst>
          </p:cNvPr>
          <p:cNvSpPr txBox="1"/>
          <p:nvPr/>
        </p:nvSpPr>
        <p:spPr>
          <a:xfrm>
            <a:off x="6351640" y="1051119"/>
            <a:ext cx="5751870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Loan distribution is highly concentrated in 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26–35 age group (35%)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followed closely by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36–45 (32%)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that mid-career professionals are the primary borrowers.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46–55 group (18%)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contributes moderately, indicating steady but reduced borrowing as individuals approach later career stages.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18–25 segment (12%)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 comparatively lower loan share, likely due to lower income levels or early career stages.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56–63 group (2%)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holds the smallest share, reflecting limited borrowing near retirement 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Overall, nearly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67% of total loans come from the 26–45 age segment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strong dependence on working-age customers.</a:t>
            </a:r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F07268-BB65-F18F-3800-D03AC53A4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4F861D-78AD-F847-E294-BF443C6947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174" y="1533831"/>
            <a:ext cx="4522839" cy="293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666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A8F86-E373-79E7-4605-5508D4313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7F7D63E-6347-7398-D233-8AD05FA60358}"/>
              </a:ext>
            </a:extLst>
          </p:cNvPr>
          <p:cNvSpPr txBox="1"/>
          <p:nvPr/>
        </p:nvSpPr>
        <p:spPr>
          <a:xfrm>
            <a:off x="3510116" y="461184"/>
            <a:ext cx="6233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Grade wise Amount % </a:t>
            </a: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DBE007-DBA3-8608-5FDB-8E9C0F13DB7B}"/>
              </a:ext>
            </a:extLst>
          </p:cNvPr>
          <p:cNvSpPr txBox="1"/>
          <p:nvPr/>
        </p:nvSpPr>
        <p:spPr>
          <a:xfrm>
            <a:off x="6213986" y="1151453"/>
            <a:ext cx="5771535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loan portfolio is heavily concentrated in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Grade B (30%)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making it the largest contributor to total loan disbursement. This indicates a strong focus on mid-quality borrowers, balancing risk and return.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Grade C (20%)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Grade A (20%)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follow closely, showing a significant allocation to both moderate and low-risk borrowers. The presence of high funding in Grade A reflects confidence in creditworthy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Grade D (15%)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Grade E (10%)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account for a moderate share, suggesting controlled exposure to higher-risk segments.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Grade F (4%)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Grade G (1%)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represent the smallest portions of the portfolio, indicating minimal lending to very high-risk categories.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9EC750-A80D-C135-93F7-597A0C6DC8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1F8231-D4F5-2B0F-E4C2-F58782DC50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952" y="1151453"/>
            <a:ext cx="4492244" cy="300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56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656B4-B3A3-9ADA-2353-028C12D11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037FCF2-F759-2ABF-9406-7576694BF16C}"/>
              </a:ext>
            </a:extLst>
          </p:cNvPr>
          <p:cNvSpPr txBox="1"/>
          <p:nvPr/>
        </p:nvSpPr>
        <p:spPr>
          <a:xfrm>
            <a:off x="3431242" y="457055"/>
            <a:ext cx="6941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Loan status wise amount</a:t>
            </a: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4C9B39-0780-F6C3-2B4F-2033B7BC8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1"/>
          <a:stretch>
            <a:fillRect/>
          </a:stretch>
        </p:blipFill>
        <p:spPr>
          <a:xfrm>
            <a:off x="1043374" y="1750142"/>
            <a:ext cx="5160780" cy="26919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AE9E775-A404-8735-8B67-80EC4AE2E0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58" y="17508"/>
            <a:ext cx="1560438" cy="70115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8E07973-70A0-FE6F-75CE-1AAE38A77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3205" y="1191290"/>
            <a:ext cx="5414334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 Loans (₹412M) form the majority of the total portfolio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that a large portion of funds is still outstanding — this increases revenue potential but also overall credit risk exposure.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Fully Paid Loans (₹191M) show strong repayment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reflecting good credit quality and effective recovery strategies.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Risk-related categories (NPA ₹6M and Write-Off ₹1M) are comparatively very 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suggesting that current loan defaults are under control and portfolio health is stable.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gap between Active and Fully Paid loans highlights dependency on future repayments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making continuous monitoring of active accounts critical for maintaining portfolio stability.</a:t>
            </a:r>
          </a:p>
        </p:txBody>
      </p:sp>
    </p:spTree>
    <p:extLst>
      <p:ext uri="{BB962C8B-B14F-4D97-AF65-F5344CB8AC3E}">
        <p14:creationId xmlns:p14="http://schemas.microsoft.com/office/powerpoint/2010/main" val="1413369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78B04-3EA4-A779-DE40-8C65D67FF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3497F2E-BC86-8BB6-1915-0E183A57D282}"/>
              </a:ext>
            </a:extLst>
          </p:cNvPr>
          <p:cNvSpPr txBox="1"/>
          <p:nvPr/>
        </p:nvSpPr>
        <p:spPr>
          <a:xfrm>
            <a:off x="3008671" y="530010"/>
            <a:ext cx="5801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Religion Amount %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61B85F-D030-E931-D1DF-A20FD885C52A}"/>
              </a:ext>
            </a:extLst>
          </p:cNvPr>
          <p:cNvSpPr txBox="1"/>
          <p:nvPr/>
        </p:nvSpPr>
        <p:spPr>
          <a:xfrm>
            <a:off x="5830528" y="1343385"/>
            <a:ext cx="611566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loan portfolio is largely concentrated within 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Hindu segment (75%)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accounting for nearly three-fourths of the total loan amount. This indicates a dominant customer base from this group.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Sikh segment (14%)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Muslim segment (11%)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contribute moderate shares, showing meaningful participation but significantly lower compared to the majority segment.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Christian segment (1%)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represents a very small portion of the total loan amount.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distribution indicates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demographic concentration with potential scope for diversification</a:t>
            </a:r>
            <a:r>
              <a:rPr lang="en-US" dirty="0"/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AEB761-38CD-6D38-D719-4E9DF78889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ED81F8-6EB5-0BB5-095D-E7AB21A497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587" y="1715658"/>
            <a:ext cx="3277057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056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15AA1-D5DF-369B-52E6-11805006A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F18C981-71C9-23D9-BAAA-42A49ACE453B}"/>
              </a:ext>
            </a:extLst>
          </p:cNvPr>
          <p:cNvSpPr txBox="1"/>
          <p:nvPr/>
        </p:nvSpPr>
        <p:spPr>
          <a:xfrm>
            <a:off x="3057834" y="353030"/>
            <a:ext cx="6499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Amount by Branch Name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17EA00-EA10-10B9-03BC-D7631B746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831346" cy="822885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179E82F7-BB23-2CBB-7F61-DF013E692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9615" y="1044202"/>
            <a:ext cx="5400719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Mathura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records the highest total loan amount, followed by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Fatehgarh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Sahib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Haridwar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indicating strong loan demand and branch performance in these locations.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branches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(Mathura,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Fatehgarh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Sahib, Haridwar, Sangrur, Hardoi) contribute a significantly higher share compared to other branches, showing concentration of lending in selected regions.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gradual decline pattern is visible from highest to lowest branches, suggesting consistent distribution but with moderate performance gaps between branches.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difference between the highest and lowest branches is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₹15M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highlighting a noticeable regional performance gap and potential opportunity for targeted growth strategies in low-performing areas</a:t>
            </a:r>
            <a:r>
              <a:rPr lang="en-US" dirty="0"/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99DF93-2761-2736-3BCB-30800EA061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51" y="1248696"/>
            <a:ext cx="5033930" cy="472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376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BA1BE-0D45-6212-ABF8-CED52CCA9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1BFEB7B-3686-F0D8-5B07-470B962F64AE}"/>
              </a:ext>
            </a:extLst>
          </p:cNvPr>
          <p:cNvSpPr txBox="1"/>
          <p:nvPr/>
        </p:nvSpPr>
        <p:spPr>
          <a:xfrm>
            <a:off x="2502310" y="539842"/>
            <a:ext cx="65286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Analysis:% of amount by default loan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5F6B96-78D6-5C35-BFB4-CE00359B5C54}"/>
              </a:ext>
            </a:extLst>
          </p:cNvPr>
          <p:cNvSpPr txBox="1"/>
          <p:nvPr/>
        </p:nvSpPr>
        <p:spPr>
          <a:xfrm>
            <a:off x="5766619" y="1271286"/>
            <a:ext cx="367520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99DAA9-37B2-B6F0-9A50-2DC74CDCE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F88FC26-12C1-2A66-5A08-DAC36E012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2012" y="1701028"/>
            <a:ext cx="6082494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significant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99% of the total loan amount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falls under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Non-Default (N)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category, indicating strong overall loan portfolio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1% of the loan amount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classified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Default (Y)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that the bank maintains a very low default exposure.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minimal default percentage suggests effective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 risk assessment and borrower screening processes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high proportion of non-default loans reflects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stable repayment behavior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healthy cash flow management among customers.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though the default rate is low, continuous monitoring is essential to prevent future credit risk accumulation.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79DB5C-2EB3-CC0A-3D0E-91DCF68B49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410" y="1531161"/>
            <a:ext cx="4451834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713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54B0E-8416-7D8D-5C05-D2DD97738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BD96008-1A1E-B627-694A-0DF73CF2371F}"/>
              </a:ext>
            </a:extLst>
          </p:cNvPr>
          <p:cNvSpPr txBox="1"/>
          <p:nvPr/>
        </p:nvSpPr>
        <p:spPr>
          <a:xfrm>
            <a:off x="3067665" y="579171"/>
            <a:ext cx="79051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% of Amount by Product Code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46B01E-EA2E-9A69-CCD2-65E5D183E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C2D2322-D2F6-710D-5879-3FA432821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7743" y="1302445"/>
            <a:ext cx="6507444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Insights: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XLG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dominates the portfolio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87%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the total loan amount, indicating that it is the primary and most preferred loan product.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contributes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representing a moderate share but significantly lower compared to XLG, suggesting limited demand or targeted usage.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XTL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accounts for only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making it the least utilize product among the three.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heavy concentration in a single product (XLG) indicates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portfolio dependency risk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diversification across XL and XTL products could help balance revenue streams and reduce risk exposure.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Overall, the dashboard highlights strong performance from XLG but also signals the need for product diversification to enhance long-term stability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0E033B-9BA1-780A-41ED-66DF1E6A32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25" y="1306269"/>
            <a:ext cx="4496427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758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0F73A-0386-6121-FAB3-722F5E24A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901AFEA-7018-5B5B-DB86-97506C47AB48}"/>
              </a:ext>
            </a:extLst>
          </p:cNvPr>
          <p:cNvSpPr txBox="1"/>
          <p:nvPr/>
        </p:nvSpPr>
        <p:spPr>
          <a:xfrm>
            <a:off x="3677264" y="399059"/>
            <a:ext cx="64401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Total Amount by State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377DE2-946F-8615-FA1B-6F8CCCD5E09A}"/>
              </a:ext>
            </a:extLst>
          </p:cNvPr>
          <p:cNvSpPr txBox="1"/>
          <p:nvPr/>
        </p:nvSpPr>
        <p:spPr>
          <a:xfrm>
            <a:off x="5832826" y="1205403"/>
            <a:ext cx="215988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8821B3-991A-6E50-B5AD-2DEFC0629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9" r="1403"/>
          <a:stretch>
            <a:fillRect/>
          </a:stretch>
        </p:blipFill>
        <p:spPr>
          <a:xfrm>
            <a:off x="1022554" y="1366684"/>
            <a:ext cx="4572001" cy="4167926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8EE7FF60-1F85-AE8F-BAE4-192B04113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826" y="1658475"/>
            <a:ext cx="613909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Uttar Pradesh (138M)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leads significantly, followed by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Punjab (119M)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Bihar (95M)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strong regional concentration.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Haryana (81M)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Rajasthan (67M)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also show solid contribution to the overall portfolio.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Mid-level performance is seen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Odisha, Assam, West Bengal, and Chhattisgarh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Very low or zero loan amounts are recorded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Himachal Pradesh, Jharkhand, Jammu &amp; Kashmir, Madhya Pradesh, and Tripura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distribution suggests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dependency on a few key states with growth potential in underpenetrated regions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A99813-1CCA-BC3D-78B4-85EEDB879A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224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D1997-7C50-4FCE-E417-B3C8E2453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9596D-4DA4-AFE2-E1A0-18B136B16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Bank loan analytics-Process</a:t>
            </a:r>
            <a:endParaRPr lang="en-IN" sz="3200" b="1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2A78C2-EE96-3350-ED81-16999CAC010C}"/>
              </a:ext>
            </a:extLst>
          </p:cNvPr>
          <p:cNvSpPr txBox="1"/>
          <p:nvPr/>
        </p:nvSpPr>
        <p:spPr>
          <a:xfrm>
            <a:off x="1133166" y="1238863"/>
            <a:ext cx="1076386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</a:t>
            </a: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Cleaning: Handled null values, removed duplicates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Transformation: Created KPIs (Total Loans, Total Loan Amount funded, Total Collection, Total Interest, Default Loan, Verified Loans, Non Verified Loans, Delinquent Clients)</a:t>
            </a: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Visualization: Built dashboard using Excel, Tableau,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Power BI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 Extraction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12F076-E31E-A871-8405-77A830DBB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277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3B9EC-CEC1-249D-FAAF-A59F994C6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9856E7-3D9B-5584-29A9-DC45789D4ADD}"/>
              </a:ext>
            </a:extLst>
          </p:cNvPr>
          <p:cNvSpPr txBox="1"/>
          <p:nvPr/>
        </p:nvSpPr>
        <p:spPr>
          <a:xfrm>
            <a:off x="1440424" y="296266"/>
            <a:ext cx="10127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 LOAN ANALYTICS-RECOMMENDATIONS &amp; INSIGHTS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CC9AC4-2EF0-7ABD-00C9-E45F8D81C670}"/>
              </a:ext>
            </a:extLst>
          </p:cNvPr>
          <p:cNvSpPr txBox="1"/>
          <p:nvPr/>
        </p:nvSpPr>
        <p:spPr>
          <a:xfrm>
            <a:off x="1052049" y="1164997"/>
            <a:ext cx="1157257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66K total loans with ₹808M collections indicate strong repayment performance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Loan portfolio heavily concentrated in a few states (UP, Punjab, Bihar)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26–35 age group contributes highest loan share (34.75%)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Grade B loans dominate portfolio, reflecting moderate risk exposure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XLG product accounts for 87% of total loan amount (high product dependency)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7K delinquent clients highlight recovery improvement opportunity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Loan disbursement peaked in 2018 and declined sharply by 2020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FD1643-EEE0-0851-CD57-E2149FF21E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" y="73866"/>
            <a:ext cx="1438420" cy="64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459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D4A6D-80C4-DE5E-BA67-D2C7AB419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043E9E-2600-B205-412B-7FF6C5C6279A}"/>
              </a:ext>
            </a:extLst>
          </p:cNvPr>
          <p:cNvSpPr txBox="1"/>
          <p:nvPr/>
        </p:nvSpPr>
        <p:spPr>
          <a:xfrm>
            <a:off x="1130711" y="926103"/>
            <a:ext cx="11061289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of Analysis: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The bank maintains a strong loan portfolio with ₹808M total collections exceeding ₹733M funded amount.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Loan demand is concentrated in the 26–45 age group and a few key states, showing both opportunity and concentration risk.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Grade B and Active loans dominate the portfolio, indicating moderate but controlled credit risk exposure.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Delinquent clients (7K) and 1K default loans highlight areas for improved recovery and monitoring.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Product dependency on XLG (87%) suggests a need for portfolio diversification.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Strategic focus on credit monitoring, geographic expansion, and product diversification can enhance growth and reduce risk.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07B899-EA07-D4DD-1C45-99CD11533535}"/>
              </a:ext>
            </a:extLst>
          </p:cNvPr>
          <p:cNvSpPr txBox="1"/>
          <p:nvPr/>
        </p:nvSpPr>
        <p:spPr>
          <a:xfrm>
            <a:off x="1592825" y="169746"/>
            <a:ext cx="8603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 LOAN ANALYTICS-CONCLUSION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D4CCB1-637F-40E7-F37B-53DE7ABC2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329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D74A-C779-6862-AB61-510B7CC85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A46D58-CC98-A55B-49DD-FF1126F8626C}"/>
              </a:ext>
            </a:extLst>
          </p:cNvPr>
          <p:cNvSpPr txBox="1"/>
          <p:nvPr/>
        </p:nvSpPr>
        <p:spPr>
          <a:xfrm>
            <a:off x="2458065" y="135090"/>
            <a:ext cx="7698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 Loan Analytics-Excel Dashboard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3865B1-84B2-BFD3-0BB8-F4FB75639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1"/>
            <a:ext cx="1227275" cy="5514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D7BD36-CF8F-ABF5-995E-8963DB119F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9865"/>
            <a:ext cx="12192000" cy="613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465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9457-80E0-403E-6FAB-EA3FE3F0B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BF7F92-95CE-6E90-39F6-3C68E7CF3437}"/>
              </a:ext>
            </a:extLst>
          </p:cNvPr>
          <p:cNvSpPr txBox="1"/>
          <p:nvPr/>
        </p:nvSpPr>
        <p:spPr>
          <a:xfrm>
            <a:off x="2458065" y="135090"/>
            <a:ext cx="7698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 Loan Analytics-Tableau Dashboard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94C3A8-3105-BB09-2711-3DDEFD80F7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1"/>
            <a:ext cx="1227275" cy="5514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67E42C-E6C1-E21E-A40E-BD05190FEF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"/>
          <a:stretch>
            <a:fillRect/>
          </a:stretch>
        </p:blipFill>
        <p:spPr>
          <a:xfrm>
            <a:off x="0" y="719865"/>
            <a:ext cx="12192000" cy="613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025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1A1B9-A7DC-A28A-DC76-9FE1B603A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36AD6B-7435-AA12-0131-8A086098AC44}"/>
              </a:ext>
            </a:extLst>
          </p:cNvPr>
          <p:cNvSpPr txBox="1"/>
          <p:nvPr/>
        </p:nvSpPr>
        <p:spPr>
          <a:xfrm>
            <a:off x="2458065" y="135090"/>
            <a:ext cx="7698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 Loan Analytics-</a:t>
            </a:r>
            <a:r>
              <a:rPr lang="en-US" sz="3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Dashboard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530A7A-4514-FA93-A366-65B74AB92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1"/>
            <a:ext cx="1227275" cy="5514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E9020F-C78B-6B40-060A-1052823239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845574"/>
            <a:ext cx="11924771" cy="589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6015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6F8918-8028-6348-5442-9AAF7B0F9978}"/>
              </a:ext>
            </a:extLst>
          </p:cNvPr>
          <p:cNvSpPr txBox="1"/>
          <p:nvPr/>
        </p:nvSpPr>
        <p:spPr>
          <a:xfrm>
            <a:off x="2458065" y="135090"/>
            <a:ext cx="7698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 Loan Analytics-Power Bi Dashboard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F4C75C-0968-8D51-1F43-37833CFC9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1"/>
            <a:ext cx="1227275" cy="5514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4A167A-E0C8-F103-675F-6C0585A727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75071"/>
            <a:ext cx="12192000" cy="594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4430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9E89A7-F7E5-0904-2E55-E054EE31A3B4}"/>
              </a:ext>
            </a:extLst>
          </p:cNvPr>
          <p:cNvSpPr txBox="1"/>
          <p:nvPr/>
        </p:nvSpPr>
        <p:spPr>
          <a:xfrm>
            <a:off x="949125" y="1303610"/>
            <a:ext cx="109801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Domain: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Banking &amp; Financial Services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Difficulty in monitoring debit and credit transactions effectively, imbalance between credit and debit amounts, and lack of clear visibility on transaction trends across banks, branches, and payment methods.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Analyze transaction patterns, monitor financial performance, evaluate branch and bank performance, and improve decision-making using key performance indicators such as Credit-to-Debit Ratio and Account Activity Ratio.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1B6110-D624-E39F-45B0-C42579B31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760" y="134585"/>
            <a:ext cx="10288229" cy="107852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Debit and credit transactions-introduction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3D2A93-0B50-5EF5-E2F9-37137B757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445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873D543-EC7C-9AA3-FB21-05781AE4CEE4}"/>
              </a:ext>
            </a:extLst>
          </p:cNvPr>
          <p:cNvSpPr txBox="1"/>
          <p:nvPr/>
        </p:nvSpPr>
        <p:spPr>
          <a:xfrm>
            <a:off x="1106129" y="1375881"/>
            <a:ext cx="997974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Files: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transactions.csv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Size: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100,000 of transaction records across all banks and branches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Columns: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Customer ID, Transaction Date, Bank Name, Branch Name, Transaction Method, Transaction Type (Debit/Credit), Description, Amount, Balance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Aggregations(KPI’S):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Total Credit:₹128M, Total Debit:₹127M, Credit-to-Debit Ratio: 1.0025, Net Transactions: ₹318K, Account Activity Ratio: 0.0190% 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AEECA9-2EA4-DACD-D8A8-DB77BFC92F39}"/>
              </a:ext>
            </a:extLst>
          </p:cNvPr>
          <p:cNvSpPr txBox="1"/>
          <p:nvPr/>
        </p:nvSpPr>
        <p:spPr>
          <a:xfrm>
            <a:off x="2010696" y="231302"/>
            <a:ext cx="9075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DEBIT AND CREDIT TRANSACTIONS-DATA OVERVIEW</a:t>
            </a:r>
            <a:endParaRPr lang="en-IN" sz="32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B15724-1556-95DA-0DE6-FE3760DEBC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246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998F7-A287-C34F-B21F-D7A604EF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494" y="293023"/>
            <a:ext cx="10515600" cy="75575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Debit and credit transactions-Objectives/</a:t>
            </a:r>
            <a:r>
              <a:rPr lang="en-US" sz="3200" b="1" dirty="0" err="1">
                <a:latin typeface="+mn-lt"/>
              </a:rPr>
              <a:t>kpi’s</a:t>
            </a:r>
            <a:endParaRPr lang="en-IN" sz="3200" b="1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CACE34-A65C-B09B-E9FA-FB262F758DF3}"/>
              </a:ext>
            </a:extLst>
          </p:cNvPr>
          <p:cNvSpPr txBox="1"/>
          <p:nvPr/>
        </p:nvSpPr>
        <p:spPr>
          <a:xfrm>
            <a:off x="841535" y="1543665"/>
            <a:ext cx="83614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Amount by Year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Amount by Description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Total Amount by Transaction Method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Amount by Branch 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Amount by Bank Name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446396-BE91-F162-BBAE-F71AC61C0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681941" cy="75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4785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72FEA-63DB-9997-AEFE-3117E3C10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943" y="284353"/>
            <a:ext cx="10114935" cy="69675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latin typeface="+mn-lt"/>
              </a:rPr>
              <a:t>DEBIT &amp; CREDIT TRANSACTIONS-Analysis and Insights</a:t>
            </a:r>
            <a:endParaRPr lang="en-IN" sz="3200" b="1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7F0208-70AD-70B5-3CD3-B459738CEB57}"/>
              </a:ext>
            </a:extLst>
          </p:cNvPr>
          <p:cNvSpPr txBox="1"/>
          <p:nvPr/>
        </p:nvSpPr>
        <p:spPr>
          <a:xfrm>
            <a:off x="1877961" y="1327356"/>
            <a:ext cx="3864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Monthly Transactions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98477FF-16C6-794F-C429-1E1C791EF2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" t="2851" r="1164" b="3163"/>
          <a:stretch>
            <a:fillRect/>
          </a:stretch>
        </p:blipFill>
        <p:spPr>
          <a:xfrm>
            <a:off x="1002889" y="1966452"/>
            <a:ext cx="5801033" cy="20451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9A52C1-EA08-C1E6-5522-B6874A983B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8248CE06-4018-7FE6-948E-5955A7E71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548" y="898594"/>
            <a:ext cx="4754924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January to November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 total loan amount remains highly stable, fluctuating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₹22M and ₹24M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consistent lending activity throughout most of the year.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January, March, May, July, and October (₹24M)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 slightly higher disbursements, reflecting peak performance months.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variation across these eleven months is minimal (only ₹2M difference), suggesting strong portfolio stability and steady 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sharp drop is observed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December (₹1M)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which is significantly lower than other months and may indicate incomplete data, seasonal slowdown, or reporting cut-off effects.</a:t>
            </a:r>
          </a:p>
        </p:txBody>
      </p:sp>
    </p:spTree>
    <p:extLst>
      <p:ext uri="{BB962C8B-B14F-4D97-AF65-F5344CB8AC3E}">
        <p14:creationId xmlns:p14="http://schemas.microsoft.com/office/powerpoint/2010/main" val="42176285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5DCB3-9CDF-96F4-2C39-B3A5E850A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63EC68B-BFB4-D70D-E75D-187F4080DE1B}"/>
              </a:ext>
            </a:extLst>
          </p:cNvPr>
          <p:cNvSpPr txBox="1"/>
          <p:nvPr/>
        </p:nvSpPr>
        <p:spPr>
          <a:xfrm>
            <a:off x="3224981" y="532270"/>
            <a:ext cx="68727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Description wise Amount %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5DC7B66F-9CC9-CE1D-00CE-E40F82B18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9468" y="1944199"/>
            <a:ext cx="687274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Utility Bill Payments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contribute the highest total amount, followed closely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 Payments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Restaurant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spending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 values across categories are relatively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minimal variation.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income (salary, freelance, client payments)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expense categories (grocery, dining, online shopping)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steady activity.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Refund-related transactions form a noticeable portion, indicating active transaction corrections.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7D417C-DB0B-123A-E5A7-819D8FD88474}"/>
              </a:ext>
            </a:extLst>
          </p:cNvPr>
          <p:cNvSpPr txBox="1"/>
          <p:nvPr/>
        </p:nvSpPr>
        <p:spPr>
          <a:xfrm>
            <a:off x="5289468" y="1482534"/>
            <a:ext cx="2094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E10909-A61A-D876-130A-340C94C5D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36C7C0-F3B4-D0BB-47EA-B577089A4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00" y="1635207"/>
            <a:ext cx="4215014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8372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BCF8C-F43C-FAD1-1D78-1F2D4B7F5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DAAFB2B-EEFC-E4E8-52A9-C362146B6612}"/>
              </a:ext>
            </a:extLst>
          </p:cNvPr>
          <p:cNvSpPr txBox="1"/>
          <p:nvPr/>
        </p:nvSpPr>
        <p:spPr>
          <a:xfrm>
            <a:off x="6096000" y="1406864"/>
            <a:ext cx="4847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BF5F87-6623-04CA-8477-313B839B7E3B}"/>
              </a:ext>
            </a:extLst>
          </p:cNvPr>
          <p:cNvSpPr txBox="1"/>
          <p:nvPr/>
        </p:nvSpPr>
        <p:spPr>
          <a:xfrm>
            <a:off x="3696927" y="648929"/>
            <a:ext cx="5850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Transactions Method %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14F5D0-DF98-8BDC-A11D-8FEF9855B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5226" y="1868529"/>
            <a:ext cx="6256774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Transaction count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evenly distributed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across Bank Transfer, Debit Card, and Credit Card (33% each).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single payment method dominates, indicating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balanced customer preference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Equal usage suggests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diversified payment behavior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strong adoption across all channels.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flexibility for businesses without over-reliance on one transaction mode.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2CD683-8B90-FB68-81D2-B0BAF036C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F8692F-CD0B-554B-8979-12BA595486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012" y="1637696"/>
            <a:ext cx="4237704" cy="268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292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A91B5-D579-D13F-9BC6-42A655F85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879030D-BE06-3F1B-E0EE-689D07067E1A}"/>
              </a:ext>
            </a:extLst>
          </p:cNvPr>
          <p:cNvSpPr txBox="1"/>
          <p:nvPr/>
        </p:nvSpPr>
        <p:spPr>
          <a:xfrm>
            <a:off x="7158132" y="1344873"/>
            <a:ext cx="4847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D796C4-4D63-9D41-2E23-1202D8FF224E}"/>
              </a:ext>
            </a:extLst>
          </p:cNvPr>
          <p:cNvSpPr txBox="1"/>
          <p:nvPr/>
        </p:nvSpPr>
        <p:spPr>
          <a:xfrm>
            <a:off x="3283974" y="383458"/>
            <a:ext cx="5899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Branch wise Transactions</a:t>
            </a: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93D5E9-7325-A19E-23F8-7A34BE70E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" t="3183" r="1730" b="2711"/>
          <a:stretch>
            <a:fillRect/>
          </a:stretch>
        </p:blipFill>
        <p:spPr>
          <a:xfrm>
            <a:off x="1219200" y="1425677"/>
            <a:ext cx="5535562" cy="238923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AC6FE96-1C2F-15F8-6BE5-759F9D77A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48" y="1825028"/>
            <a:ext cx="497598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Loan amounts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consistently distributed across all branches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ranging between 42M–43M.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City Center, Main, East, and Downtown branches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slightly lead at 43M.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Suburban and North branches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closely follow at 42M, showing minimal variation.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performance indicates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balanced branch contribution with no major outliers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E42AE0-90A4-3D76-3083-BB515D84AD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159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12E3D-587A-D567-658A-6840455C6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1985048-5E71-460B-580B-E9FB015AC108}"/>
              </a:ext>
            </a:extLst>
          </p:cNvPr>
          <p:cNvSpPr txBox="1"/>
          <p:nvPr/>
        </p:nvSpPr>
        <p:spPr>
          <a:xfrm>
            <a:off x="6773283" y="1392876"/>
            <a:ext cx="20167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BFA27D-A04F-0A28-D05E-3A19CB7D60D2}"/>
              </a:ext>
            </a:extLst>
          </p:cNvPr>
          <p:cNvSpPr txBox="1"/>
          <p:nvPr/>
        </p:nvSpPr>
        <p:spPr>
          <a:xfrm>
            <a:off x="3716592" y="532270"/>
            <a:ext cx="5594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Bank </a:t>
            </a:r>
            <a:r>
              <a:rPr lang="en-US" sz="3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wiseTransactions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D246F2-B461-D040-111D-C95F7F223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9" t="2436" r="2284" b="4302"/>
          <a:stretch>
            <a:fillRect/>
          </a:stretch>
        </p:blipFill>
        <p:spPr>
          <a:xfrm>
            <a:off x="934065" y="1622322"/>
            <a:ext cx="5514420" cy="221225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1A6A074-DA52-6918-CE61-A99F9EAF1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283" y="1808375"/>
            <a:ext cx="523190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amount distribution across banks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highly uniform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ranging between 42M–43M.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Kotak Mahindra Bank, Axis Bank, State Bank of India, and ICICI Bank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lead marginally at 43M.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Punjab National Bank and HDFC Bank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closely follow at 42M.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significant performance gap is observed among banks.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Overall, the portfolio appears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evenly diversified across banking partners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reducing concentration risk.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269351-616D-15D2-D2C1-B75573D6D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1564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9953-BCEF-5E7A-25DE-B0234AF0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877" y="365125"/>
            <a:ext cx="10515600" cy="69675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Debit &amp; credit transactions-Process</a:t>
            </a:r>
            <a:endParaRPr lang="en-IN" sz="3200" b="1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60E08C-F9D3-E8EF-07B7-263DCFA2EAED}"/>
              </a:ext>
            </a:extLst>
          </p:cNvPr>
          <p:cNvSpPr txBox="1"/>
          <p:nvPr/>
        </p:nvSpPr>
        <p:spPr>
          <a:xfrm>
            <a:off x="1211826" y="1312089"/>
            <a:ext cx="1078352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</a:t>
            </a: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Cleaning: Handled null values, removed duplicates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Transformation: Created KPIs (Total Credit, Total Debit, Net Transactions, Credit-to-Debit Ratio, Account Activity Ratio)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Visualization: Built dashboard using Excel, Tableau,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Power BI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 Extraction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557B89-D735-D97F-8822-BA4A7F3EF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116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BBFC62-1765-1687-C662-913473AFDC71}"/>
              </a:ext>
            </a:extLst>
          </p:cNvPr>
          <p:cNvSpPr txBox="1"/>
          <p:nvPr/>
        </p:nvSpPr>
        <p:spPr>
          <a:xfrm>
            <a:off x="1433752" y="317280"/>
            <a:ext cx="105893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DEBIT &amp; CREDIT TRANSACTIONS-RECOMMENDATIONS AND INSIGHTS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50CA4A-4393-D449-1017-4569A8CBAD23}"/>
              </a:ext>
            </a:extLst>
          </p:cNvPr>
          <p:cNvSpPr txBox="1"/>
          <p:nvPr/>
        </p:nvSpPr>
        <p:spPr>
          <a:xfrm>
            <a:off x="949125" y="1509006"/>
            <a:ext cx="1110061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 and Debit amounts are nearly equal, indicating a balanced financial system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Monthly transactions remain stable with minor seasonal fluctuations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Transaction methods are equally used across customers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Branch performance is consistent with minimal variation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Recommendations: Strengthen marketing during low-activity months and promote digital payment adoption to increase overall transaction volume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E2FEB0-FB76-1BF8-8D01-3B7D8A897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7" y="114920"/>
            <a:ext cx="1345262" cy="60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9037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DFC5D7-EBE3-4F31-6470-B78C846D09D5}"/>
              </a:ext>
            </a:extLst>
          </p:cNvPr>
          <p:cNvSpPr txBox="1"/>
          <p:nvPr/>
        </p:nvSpPr>
        <p:spPr>
          <a:xfrm>
            <a:off x="1120877" y="1255691"/>
            <a:ext cx="1107112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of Analysis: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Debit and Credit transactions remain balanced throughout the year.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Monthly transaction trends show consistent performance with minor seasonal variations.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 Bank and branch contributions are evenly distributed with no major performance gaps.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Diversified transaction methods indicate stable and flexible customer payment behavior.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Strategic improvements during low-activity periods can further enhance transaction volume and overall financial efficiency.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C2C743-9CED-B334-43E7-8A296C29D6EA}"/>
              </a:ext>
            </a:extLst>
          </p:cNvPr>
          <p:cNvSpPr txBox="1"/>
          <p:nvPr/>
        </p:nvSpPr>
        <p:spPr>
          <a:xfrm>
            <a:off x="2104102" y="258993"/>
            <a:ext cx="8603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DEBIT &amp; CREDIT TRANSACTIONS-CONCLUSION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8B4541-0701-E56A-1E55-8654E344A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883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98F83-654C-0A8D-943F-2A901D49F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D0BD6B-58A9-5979-F57B-6D5B508A04A2}"/>
              </a:ext>
            </a:extLst>
          </p:cNvPr>
          <p:cNvSpPr txBox="1"/>
          <p:nvPr/>
        </p:nvSpPr>
        <p:spPr>
          <a:xfrm>
            <a:off x="619432" y="15932"/>
            <a:ext cx="10953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Debit &amp; Credit Transactions-Excel Dashboard</a:t>
            </a:r>
            <a:endParaRPr lang="en-IN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A46966-DBD0-74EB-409D-510F5FC00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921"/>
            <a:ext cx="1248697" cy="4851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6B2FA2-764C-E973-945F-D6FF74FAC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" b="1"/>
          <a:stretch>
            <a:fillRect/>
          </a:stretch>
        </p:blipFill>
        <p:spPr>
          <a:xfrm>
            <a:off x="0" y="865238"/>
            <a:ext cx="12192000" cy="597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5760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96794-6315-0AA3-09BA-4D62ABA73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01D303-0802-6232-9DE6-7B9C315D7A77}"/>
              </a:ext>
            </a:extLst>
          </p:cNvPr>
          <p:cNvSpPr txBox="1"/>
          <p:nvPr/>
        </p:nvSpPr>
        <p:spPr>
          <a:xfrm>
            <a:off x="619432" y="15932"/>
            <a:ext cx="10953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Debit &amp; Credit Transactions-Tableau Dashboard</a:t>
            </a:r>
            <a:endParaRPr lang="en-IN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DC0EE7-FB8A-763B-A285-C19078AD9C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921"/>
            <a:ext cx="1248697" cy="4851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379641-92C8-8688-1FD2-2DDABEE54A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9096"/>
            <a:ext cx="12192000" cy="615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2125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E3941-27B7-777B-AD5C-30280634F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9E66A-2887-3E2E-5538-B9B630537465}"/>
              </a:ext>
            </a:extLst>
          </p:cNvPr>
          <p:cNvSpPr txBox="1"/>
          <p:nvPr/>
        </p:nvSpPr>
        <p:spPr>
          <a:xfrm>
            <a:off x="619432" y="15932"/>
            <a:ext cx="10953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Debit &amp; Credit Transactions-</a:t>
            </a:r>
            <a:r>
              <a:rPr lang="en-US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</a:t>
            </a: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Dashboard</a:t>
            </a:r>
            <a:endParaRPr lang="en-IN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C52284-E603-9CAF-4B1D-7A10159FE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921"/>
            <a:ext cx="1248697" cy="4851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CB6F36-ABE7-ECF4-8889-87C0A4372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4" y="699096"/>
            <a:ext cx="11887199" cy="604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7831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AD4D0E-4C98-E441-A2A7-66F7DF610873}"/>
              </a:ext>
            </a:extLst>
          </p:cNvPr>
          <p:cNvSpPr txBox="1"/>
          <p:nvPr/>
        </p:nvSpPr>
        <p:spPr>
          <a:xfrm>
            <a:off x="619432" y="15932"/>
            <a:ext cx="10953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Debit &amp; Credit Transactions-Power Bi Dashboard</a:t>
            </a:r>
            <a:endParaRPr lang="en-IN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E519CC-EDD0-3431-63C6-DF809341F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921"/>
            <a:ext cx="1248697" cy="4851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8AFA31-E1A3-0163-F040-ADE64C8BA0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1" y="761252"/>
            <a:ext cx="12151438" cy="609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4055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B64DB5-7DFE-FC02-2A71-1821EEE181BC}"/>
              </a:ext>
            </a:extLst>
          </p:cNvPr>
          <p:cNvSpPr txBox="1"/>
          <p:nvPr/>
        </p:nvSpPr>
        <p:spPr>
          <a:xfrm>
            <a:off x="589935" y="930100"/>
            <a:ext cx="3637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F4D8EA-B13A-43A8-1557-215896CD58B7}"/>
              </a:ext>
            </a:extLst>
          </p:cNvPr>
          <p:cNvSpPr txBox="1"/>
          <p:nvPr/>
        </p:nvSpPr>
        <p:spPr>
          <a:xfrm>
            <a:off x="1337187" y="1524000"/>
            <a:ext cx="820993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&amp; transformation (most time-consuming)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 validation with business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Maintaining data accuracy across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user experience design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989B5C-A22B-927D-1499-EB0EDFC15FC3}"/>
              </a:ext>
            </a:extLst>
          </p:cNvPr>
          <p:cNvSpPr txBox="1"/>
          <p:nvPr/>
        </p:nvSpPr>
        <p:spPr>
          <a:xfrm>
            <a:off x="870152" y="3949170"/>
            <a:ext cx="2703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Learnings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CE466-3909-C104-82BF-0324B8B05D89}"/>
              </a:ext>
            </a:extLst>
          </p:cNvPr>
          <p:cNvSpPr txBox="1"/>
          <p:nvPr/>
        </p:nvSpPr>
        <p:spPr>
          <a:xfrm>
            <a:off x="1209369" y="4549170"/>
            <a:ext cx="65384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Importance of Proper Data Modeling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 Filter Context &amp; DAX Logic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Design &amp; Visualization Skill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214D3E-B83C-59BD-97B3-59C78C44529B}"/>
              </a:ext>
            </a:extLst>
          </p:cNvPr>
          <p:cNvSpPr txBox="1"/>
          <p:nvPr/>
        </p:nvSpPr>
        <p:spPr>
          <a:xfrm>
            <a:off x="4395019" y="275303"/>
            <a:ext cx="5633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and Learnings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958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00E01C-AB21-1E83-B5FD-0EE8520FD7D9}"/>
              </a:ext>
            </a:extLst>
          </p:cNvPr>
          <p:cNvSpPr txBox="1"/>
          <p:nvPr/>
        </p:nvSpPr>
        <p:spPr>
          <a:xfrm>
            <a:off x="4100051" y="2141285"/>
            <a:ext cx="47883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i="1" dirty="0">
                <a:latin typeface="Algerian" panose="04020705040A02060702" pitchFamily="82" charset="0"/>
                <a:ea typeface="Calibri" panose="020F0502020204030204" pitchFamily="34" charset="0"/>
                <a:cs typeface="Calibri" panose="020F0502020204030204" pitchFamily="34" charset="0"/>
              </a:rPr>
              <a:t>THE END....</a:t>
            </a:r>
            <a:endParaRPr lang="en-IN" sz="7200" i="1" dirty="0">
              <a:latin typeface="Algerian" panose="04020705040A02060702" pitchFamily="8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0B5293-A01D-22F9-6498-E4840633A636}"/>
              </a:ext>
            </a:extLst>
          </p:cNvPr>
          <p:cNvSpPr txBox="1"/>
          <p:nvPr/>
        </p:nvSpPr>
        <p:spPr>
          <a:xfrm>
            <a:off x="7315200" y="4139381"/>
            <a:ext cx="47194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sz="4000" i="1" dirty="0">
                <a:latin typeface="Algerian" panose="04020705040A02060702" pitchFamily="82" charset="0"/>
                <a:ea typeface="Calibri" panose="020F0502020204030204" pitchFamily="34" charset="0"/>
                <a:cs typeface="Calibri" panose="020F0502020204030204" pitchFamily="34" charset="0"/>
              </a:rPr>
              <a:t>Presented by </a:t>
            </a:r>
          </a:p>
          <a:p>
            <a:r>
              <a:rPr lang="en-US" sz="4000" i="1" dirty="0">
                <a:latin typeface="Algerian" panose="04020705040A02060702" pitchFamily="82" charset="0"/>
                <a:ea typeface="Calibri" panose="020F0502020204030204" pitchFamily="34" charset="0"/>
                <a:cs typeface="Calibri" panose="020F0502020204030204" pitchFamily="34" charset="0"/>
              </a:rPr>
              <a:t>        Group 6</a:t>
            </a:r>
            <a:endParaRPr lang="en-IN" sz="4000" i="1" dirty="0">
              <a:latin typeface="Algerian" panose="04020705040A02060702" pitchFamily="8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AA2E60-8A0A-6A2F-59CA-D35ECAE05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2639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2562</TotalTime>
  <Words>2449</Words>
  <Application>Microsoft Office PowerPoint</Application>
  <PresentationFormat>Widescreen</PresentationFormat>
  <Paragraphs>316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Algerian</vt:lpstr>
      <vt:lpstr>Arial</vt:lpstr>
      <vt:lpstr>Calibri</vt:lpstr>
      <vt:lpstr>Lucida Calligraphy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Bank loan dashboard-Objectives/kpi’s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Bank loan analytics-Process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Debit and credit transactions-introduction</vt:lpstr>
      <vt:lpstr>PowerPoint Presentation</vt:lpstr>
      <vt:lpstr>Debit and credit transactions-Objectives/kpi’s</vt:lpstr>
      <vt:lpstr>DEBIT &amp; CREDIT TRANSACTIONS-Analysis and Insights</vt:lpstr>
      <vt:lpstr>PowerPoint Presentation</vt:lpstr>
      <vt:lpstr>PowerPoint Presentation</vt:lpstr>
      <vt:lpstr>PowerPoint Presentation</vt:lpstr>
      <vt:lpstr>PowerPoint Presentation</vt:lpstr>
      <vt:lpstr>Debit &amp; credit transactions-Process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asusr1n0cv12623805b@outlook.com</dc:creator>
  <cp:lastModifiedBy>asusr1n0cv12623805b@outlook.com</cp:lastModifiedBy>
  <cp:revision>69</cp:revision>
  <dcterms:created xsi:type="dcterms:W3CDTF">2026-02-12T06:29:12Z</dcterms:created>
  <dcterms:modified xsi:type="dcterms:W3CDTF">2026-02-21T03:33:49Z</dcterms:modified>
</cp:coreProperties>
</file>